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538544-6A1B-4AC1-AFC6-A6DB88489820}">
  <a:tblStyle styleId="{2A538544-6A1B-4AC1-AFC6-A6DB884898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8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40455" y="1687859"/>
            <a:ext cx="8711088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5EEAD4"/>
                </a:solidFill>
                <a:latin typeface="Montserrat"/>
                <a:ea typeface="Montserrat"/>
                <a:cs typeface="Montserrat"/>
                <a:sym typeface="Montserrat"/>
              </a:rPr>
              <a:t>MUTUAL FUND ANALYTICS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5EEAD4"/>
                </a:solidFill>
                <a:latin typeface="Montserrat"/>
                <a:ea typeface="Montserrat"/>
                <a:cs typeface="Montserrat"/>
                <a:sym typeface="Montserrat"/>
              </a:rPr>
              <a:t> CAPSTONE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57587" y="3486001"/>
            <a:ext cx="50768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EEAD4"/>
                </a:solidFill>
                <a:latin typeface="Montserrat"/>
                <a:ea typeface="Montserrat"/>
                <a:cs typeface="Montserrat"/>
                <a:sym typeface="Montserrat"/>
              </a:rPr>
              <a:t>Bluestock Fintech Internship Portfolio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36989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Comprehensive Data Engineering &amp; Financial Analysis of Indian Mutual Fund Schemes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0712"/>
            <a:ext cx="3492549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90712"/>
            <a:ext cx="3492549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90712"/>
            <a:ext cx="3492549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271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52500" y="2967037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The Challenge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376612"/>
            <a:ext cx="27305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Financial advisors and retail investors struggle with fragmented Mutual Fund data and lack of automated tools for multi-metric performance comparison.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271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730799" y="2967037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Strategic Goals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30799" y="3376612"/>
            <a:ext cx="27305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 an automated ETL pipeline to ingest NAV data, perform advanced risk-return analytics, and visualize insights for informed decision making.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271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509099" y="2967037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Key Deliverables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09099" y="3376612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Cleaned dataset, performance metrics dashboard, and automated reporting system for 500+ active Mutual Fund schemes.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Objectives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" name="Google Shape;112;p15"/>
          <p:cNvGraphicFramePr/>
          <p:nvPr/>
        </p:nvGraphicFramePr>
        <p:xfrm>
          <a:off x="571500" y="2400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{2A538544-6A1B-4AC1-AFC6-A6DB88489820}</a:tableStyleId>
              </a:tblPr>
              <a:tblGrid>
                <a:gridCol w="2110375"/>
                <a:gridCol w="3655375"/>
                <a:gridCol w="2551800"/>
                <a:gridCol w="2731450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Source Entity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Delivery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AMFI India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Scheme Master, NAV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CSV / Text Exports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Daily (EOD)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RapidAPI (MF)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Historical NAV Trends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JSON via REST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Ad-hoc / Batch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Yahoo Finance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Benchmark (Nifty 50)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Python (yfinance)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/ Historical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Internal 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User Preferences &amp; Portfolios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Event-driven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5"/>
          <p:cNvSpPr/>
          <p:nvPr/>
        </p:nvSpPr>
        <p:spPr>
          <a:xfrm>
            <a:off x="571500" y="2952750"/>
            <a:ext cx="211038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681882" y="2952750"/>
            <a:ext cx="365536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337250" y="2952750"/>
            <a:ext cx="255180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8889057" y="2952750"/>
            <a:ext cx="273144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3548062"/>
            <a:ext cx="21103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681882" y="3548062"/>
            <a:ext cx="36553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337250" y="3548062"/>
            <a:ext cx="2551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889057" y="3548062"/>
            <a:ext cx="27314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4129087"/>
            <a:ext cx="21103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681882" y="4129087"/>
            <a:ext cx="36553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337250" y="4129087"/>
            <a:ext cx="2551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889057" y="4129087"/>
            <a:ext cx="27314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" y="4710112"/>
            <a:ext cx="21103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681882" y="4710112"/>
            <a:ext cx="36553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337250" y="4710112"/>
            <a:ext cx="2551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889057" y="4710112"/>
            <a:ext cx="27314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5291137"/>
            <a:ext cx="21103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681882" y="5291137"/>
            <a:ext cx="36553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337250" y="5291137"/>
            <a:ext cx="2551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889057" y="5291137"/>
            <a:ext cx="27314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Data Sources &amp; Acquisition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6211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18526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robust pipeline follows the </a:t>
            </a: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Medallion Architecture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ensure data integrity and scalability.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67163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047750" y="265271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Extraction: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Python scripts fetch data from AMFI and APIs using asynchronous requests.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47750" y="350043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Transformation: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Pandas-based cleaning for NAV nulls and schema mapping.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47750" y="434816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Load: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High-performance staging in PostgreSQL for analytical queries.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47750" y="519588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Consumption: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Power BI &amp; Tableau Public for real-time visualization.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385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862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3398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ETL &amp; Technical Architecture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EDA: Market Performance Trends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200" y="1236813"/>
            <a:ext cx="9753600" cy="45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81375" y="5179550"/>
            <a:ext cx="523875" cy="4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218598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4062" y="2686050"/>
            <a:ext cx="233362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6858000" y="238601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Equity (55%):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Dominated by Mid-cap and Flexi-cap funds.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858000" y="323373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Debt (25%):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Liquid and Corporate Bond funds show highest stability.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858000" y="408146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Hybrid (15%):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Aggressive balanced funds gaining traction.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858000" y="492918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Others (5%):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ETFs and Gold funds.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241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2718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119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9672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EDA: Asset Category Distribution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55886"/>
            <a:ext cx="2476500" cy="185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1855886"/>
            <a:ext cx="2476500" cy="185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95737"/>
            <a:ext cx="2476500" cy="185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0" y="3995737"/>
            <a:ext cx="2476500" cy="18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2443162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1.24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Avg. Sharpe Ratio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99400" y="2736587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Sharpe Ratio &gt; 1.0 indicates that the fund provides higher returns for each unit of risk compared to risk-free treasury instruments.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19875" y="2296566"/>
            <a:ext cx="21002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Alpha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19875" y="2582325"/>
            <a:ext cx="11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+3.2%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19875" y="3087141"/>
            <a:ext cx="2000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Excess return vs Benchmark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382125" y="2296566"/>
            <a:ext cx="21002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Beta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382125" y="2582325"/>
            <a:ext cx="9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0.85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382125" y="3087141"/>
            <a:ext cx="2000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Market Volatility Sensitivity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19875" y="4436417"/>
            <a:ext cx="21002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19875" y="4722175"/>
            <a:ext cx="1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12.4%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619875" y="5226992"/>
            <a:ext cx="2000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Historical Price Volatility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382125" y="4436417"/>
            <a:ext cx="21002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R-Sq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382125" y="4722175"/>
            <a:ext cx="97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94</a:t>
            </a:r>
            <a:r>
              <a:rPr b="1" lang="en-US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382200" y="5091467"/>
            <a:ext cx="200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Correlation with Index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Risk-Adjusted Return Metrics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Fund Category vs. Benchmark Index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0"/>
          <p:cNvPicPr preferRelativeResize="0"/>
          <p:nvPr/>
        </p:nvPicPr>
        <p:blipFill rotWithShape="1">
          <a:blip r:embed="rId4">
            <a:alphaModFix/>
          </a:blip>
          <a:srcRect b="2629" l="912" r="0" t="16228"/>
          <a:stretch/>
        </p:blipFill>
        <p:spPr>
          <a:xfrm>
            <a:off x="1307750" y="1894700"/>
            <a:ext cx="9665050" cy="36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70750" y="4736750"/>
            <a:ext cx="350125" cy="3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9737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747837"/>
            <a:ext cx="51625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6381750" y="19764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Holistic Insights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381750" y="23860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primary dashboard provides a unified view of market liquidity, category-wise AUM, and top/bottom performers.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858000" y="3490912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Real-time Tickers: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NAV updates for starred funds.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858000" y="403383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Dynamic Filtering: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Slice by AMC, Risk Grade, or Expense Ratio.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858000" y="488156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Comparative Charts: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Instant side-by-side fund comparison tool.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Executive Overview Dashboard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2096950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Improved drill-down view for researchers to examine individual scheme holdings and concentration risks.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1047750" y="34671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Portfolio Overlap: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Detect redundancy between funds.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047750" y="431482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Risk Attribution: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Decomposition of risk factors.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047750" y="485775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Rolling Returns: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3-yr and 5-yr consistency analysis.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5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52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58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762000" y="571500"/>
            <a:ext cx="500062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Deep-Dive Fund Analytics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571500"/>
            <a:ext cx="57150" cy="93345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1047750" y="2309812"/>
            <a:ext cx="10572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Cost Efficiency Impact</a:t>
            </a: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Regular Plans with expense ratios &lt; 0.8% outperform regular plans by 1.4% per annum on an average over 5-year horizon.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047750" y="3157537"/>
            <a:ext cx="10572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Volatility Correlation: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Small-cap funds had a 0.92 correlation with market crashes but 1.5x recovery speed than Large-cap counterparts.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1047750" y="4005262"/>
            <a:ext cx="10572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Strategic Recommendation: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 wealth creation over the long-term, a core-satellite approach with 60% Index Funds and 40% Active Mid-cap funds is mathematically the best for the current market scenario.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1047750" y="4852987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Future Scope: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Sentiment analysis of financial news to predict short term changes in NAV.</a:t>
            </a:r>
            <a:endParaRPr/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95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336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10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Strategic Findings &amp; Recommendations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3505676" y="1809750"/>
            <a:ext cx="51806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5EEAD4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3681412" y="3028950"/>
            <a:ext cx="48291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Bluestock MF Capstone Project Presentation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